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56152-7929-4A92-85D3-13BD8DD5C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493C46-2C14-4B55-AB94-D13DA060B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D2F02-632F-4FEB-A719-182AB167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B1A0FF-3224-420B-A705-B83A0339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B0A1A9-3F04-4779-A449-B0892258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3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89D34-5B52-4C79-96D4-EDE969ED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DDED47-0A87-4438-8C56-269DCBAE1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A9355-8978-405F-9821-4E54F8DF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19190-075B-4A46-8E4F-EE5AA269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841694-2B7A-4FE8-9D40-C8BCEA8B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69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69777-4182-4C36-B3FE-0A215487F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40D1E2-2F4D-4736-BB6C-0878691D8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0A7971-72DE-4B85-A92B-A5BE9BB0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AA0EDF-8450-4701-A3B3-BB3CAC75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767771-47BA-40D2-82F6-731D4B72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5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07BE6-FD41-4E45-B3B9-4E987944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7068E-CB77-4B1E-9570-E9FD25DF8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E14C5E-7951-4250-907E-EF9CF0AF9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215722-4A47-446B-B9C8-199D2858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FAFF4B-D179-4AB5-ACD4-3FAE0AAF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EAFCB6-AA6E-4BA4-9A1B-FBC018EC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5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CBD1F7-F246-4C1E-8946-DC83FA8B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686DC4-35AC-4D18-A606-5B48F4C4D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5F6FFC-59B5-435A-AA20-ACD23CA0D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856769-49B1-431F-BD66-1C1CD9E73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4D0D9A-F60F-4880-BB08-2375BBE8B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111EAB-E7B6-4901-BAC0-34A34813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7504711-C1F2-47CA-A2FD-5EE37CF0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5622CA8-DDC2-41DE-9BCA-1B9B19E38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44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F6C25-F4FA-4E7B-A4F6-72ACE31AC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1C3827-850C-4C75-8709-80E58B9C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154ABC4-0FCC-4BB3-9F13-1D5D19E2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ABCA2A8-62CD-42FC-A624-26495724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38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41AC1A6-D976-4A3F-B5AA-00EB33BF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208163F-7EF1-425C-AFF6-95C597A8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DACD45-782A-4164-B115-95A3A39C4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18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FDF97-21BE-43D0-8835-515402AB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0D866-4E35-46CC-9CFD-1A577AE8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5F380D-A968-4559-BB7C-28FCB0CCA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582846-67C9-4F7F-92F7-81DD6038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989026-7980-4371-9A0D-7971EC47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EB26CA-916C-4445-9EE7-5C0A6BDF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69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E7D69-4BDF-426A-A5E5-AD6A4DA48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D9CE51-F471-4D88-ACB9-4EA6AEC88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02AD78-966D-4037-A0E4-5F162EF67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A3E136-9E1C-4DBA-A8BC-7DBF9B6A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4632A6-1C2F-46DA-93E4-93285303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8052E8-6A13-4E56-9F94-E13D92C9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53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FE058-6464-40C0-8BCE-779D508C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896397-F66F-461F-B730-49BECCFF3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1A8D26-3B3B-40B3-BC3B-26CEBA409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DAC0D8-EB54-4407-9135-39AC394BA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F1A35-FCCC-425D-9199-D1A9B2CA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73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B3A4C99-3CE9-461E-91CD-63DEAB579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039BC5-7A69-447B-B6C8-275B552FB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73074-0284-438E-A13B-6DB94EF7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2DF5F-8399-4F3D-B22E-C354D3FC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9BC81E-9316-4922-AD0D-D6B83918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866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98423-48E0-4123-B3F8-7ED2246C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83CF99-0926-49C3-AA70-089F82699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1C3B6C-4CE2-4583-959A-EDDDAED2D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5724B-E4BD-4772-A3AA-319516FF978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652867-68CF-4429-A871-13330B38B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B2ED12-850C-44CB-8011-EA7F91CDC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EAA46-D9D9-43DB-9954-72999BF04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89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skillfactory.ru/glossary/docker/" TargetMode="External"/><Relationship Id="rId3" Type="http://schemas.openxmlformats.org/officeDocument/2006/relationships/hyperlink" Target="https://e.lanbook.com/book/460064?category=931" TargetMode="External"/><Relationship Id="rId7" Type="http://schemas.openxmlformats.org/officeDocument/2006/relationships/hyperlink" Target="https://github.com/nginx-proxy/acme-companion" TargetMode="External"/><Relationship Id="rId12" Type="http://schemas.openxmlformats.org/officeDocument/2006/relationships/hyperlink" Target="https://websocket.org/" TargetMode="External"/><Relationship Id="rId2" Type="http://schemas.openxmlformats.org/officeDocument/2006/relationships/hyperlink" Target="https://arenda-server.cloud/blog/vvedenie-v-let-s-encrypt-besplatnye-ssl-sertifikat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br.ru/currency_base/" TargetMode="External"/><Relationship Id="rId11" Type="http://schemas.openxmlformats.org/officeDocument/2006/relationships/hyperlink" Target="https://blog.sysadminium.ru/docs/web/nginx-reverse-proxy/" TargetMode="External"/><Relationship Id="rId5" Type="http://schemas.openxmlformats.org/officeDocument/2006/relationships/hyperlink" Target="https://e.lanbook.com/book/382442?category=1537" TargetMode="External"/><Relationship Id="rId10" Type="http://schemas.openxmlformats.org/officeDocument/2006/relationships/hyperlink" Target="https://letsencrypt.org/docs/" TargetMode="External"/><Relationship Id="rId4" Type="http://schemas.openxmlformats.org/officeDocument/2006/relationships/hyperlink" Target="https://cyberleninka.ru/article/n/mikroservisnaya-arhitektura-kak-sovremennyy-podhod-k-razrabotke-programmnogo-obespecheniya" TargetMode="External"/><Relationship Id="rId9" Type="http://schemas.openxmlformats.org/officeDocument/2006/relationships/hyperlink" Target="https://docs.docker.com/compo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1141A-EA5A-4F04-B1FD-1F9732B5F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743700"/>
          </a:xfrm>
        </p:spPr>
        <p:txBody>
          <a:bodyPr>
            <a:normAutofit fontScale="90000"/>
          </a:bodyPr>
          <a:lstStyle/>
          <a:p>
            <a:pPr marL="914400">
              <a:lnSpc>
                <a:spcPct val="114000"/>
              </a:lnSpc>
              <a:spcAft>
                <a:spcPts val="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«РОССИЙСКИЙ ГОСУДАРСТВЕННЫЙ ПЕДАГОГИЧЕСКИЙ УНИВЕРСИТЕТ им. А. И. ГЕРЦЕНА» 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Институт информационных технологий и технологического образования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информационных технологий и электронного обучения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Основная профессиональная образовательная программа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Направление подготовки 09.03.01 Информатика и вычислительная техника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Направленность (профиль) «Технологии разработки программного обеспечения и обработки больших данных»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форма обучения – очная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Курсовая работа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 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дисциплине «Прикладные информационные технологии»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и контейнеризация веб-приложения для отслеживания курсов валют в реальном времени с использованием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Docker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автоматизация выпуска сертификатов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Let's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Encrypt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Обучающейся 3 курса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Степанова Анна Андреевна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308966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61130"/>
            <a:ext cx="10515600" cy="1325563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90553-7E98-44AD-884D-C1893CF3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2699"/>
            <a:ext cx="10515600" cy="362426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Рост числа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микросервисных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 стал обязательным требованием безопасности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Традиционное получение SSL-сертификатов требует ручного вмешательства</a:t>
            </a:r>
          </a:p>
          <a:p>
            <a:pPr marL="0" indent="0" algn="l">
              <a:buNone/>
            </a:pPr>
            <a:endParaRPr lang="ru-RU" b="1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автоматизация через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nginx-proxy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acme-companion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20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61130"/>
            <a:ext cx="10515600" cy="1325563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90553-7E98-44AD-884D-C1893CF3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1486693"/>
            <a:ext cx="11020424" cy="469027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 разработать веб-приложение для отображения курсов валют в реальном времени с автоматическим HTTPS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веб-приложение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-образы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docker-compose.yml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nginx-proxy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acme-companion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24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61130"/>
            <a:ext cx="10515600" cy="1325563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90553-7E98-44AD-884D-C1893CF3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6" y="1990725"/>
            <a:ext cx="7600949" cy="423386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часть (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JavaScript)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 (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+ Tornado, WebSocket)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Reverse-proxy 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-proxy)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acme-companion (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автоматические сертификаты)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53854E-FE3D-495A-8058-EA4072AAC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575" y="726665"/>
            <a:ext cx="3021430" cy="540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75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6113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 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паттерн «Наблюдатель»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90553-7E98-44AD-884D-C1893CF3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1" y="1724025"/>
            <a:ext cx="10877549" cy="4233862"/>
          </a:xfrm>
        </p:spPr>
        <p:txBody>
          <a:bodyPr>
            <a:normAutofit/>
          </a:bodyPr>
          <a:lstStyle/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Полнодуплексная связь клиент-сервер</a:t>
            </a:r>
          </a:p>
          <a:p>
            <a:pPr algn="l"/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отправляет данные без запроса от клиента</a:t>
            </a:r>
          </a:p>
          <a:p>
            <a:pPr algn="l"/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один субъект — множество наблюдателей</a:t>
            </a:r>
          </a:p>
          <a:p>
            <a:pPr algn="l"/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нет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-нагрузки, мгновенная рассылка, простое масштабирование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93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61130"/>
            <a:ext cx="10515600" cy="1325563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FAE5006-D0DB-40F0-9A4A-31C6E46A7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31743"/>
              </p:ext>
            </p:extLst>
          </p:nvPr>
        </p:nvGraphicFramePr>
        <p:xfrm>
          <a:off x="1276350" y="1676400"/>
          <a:ext cx="9229726" cy="43910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14863">
                  <a:extLst>
                    <a:ext uri="{9D8B030D-6E8A-4147-A177-3AD203B41FA5}">
                      <a16:colId xmlns:a16="http://schemas.microsoft.com/office/drawing/2014/main" val="2472116109"/>
                    </a:ext>
                  </a:extLst>
                </a:gridCol>
                <a:gridCol w="4614863">
                  <a:extLst>
                    <a:ext uri="{9D8B030D-6E8A-4147-A177-3AD203B41FA5}">
                      <a16:colId xmlns:a16="http://schemas.microsoft.com/office/drawing/2014/main" val="3554203948"/>
                    </a:ext>
                  </a:extLst>
                </a:gridCol>
              </a:tblGrid>
              <a:tr h="661015"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210520275"/>
                  </a:ext>
                </a:extLst>
              </a:tr>
              <a:tr h="661015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3.11 + Tornado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43891419"/>
                  </a:ext>
                </a:extLst>
              </a:tr>
              <a:tr h="661015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HTML5, CSS3, JavaScript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46562587"/>
                  </a:ext>
                </a:extLst>
              </a:tr>
              <a:tr h="661015">
                <a:tc>
                  <a:txBody>
                    <a:bodyPr/>
                    <a:lstStyle/>
                    <a:p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Контейнеризация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Docker, Docker Compose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91620634"/>
                  </a:ext>
                </a:extLst>
              </a:tr>
              <a:tr h="661015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Reverse-proxy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nginx-proxy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18889698"/>
                  </a:ext>
                </a:extLst>
              </a:tr>
              <a:tr h="1085953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SSL-</a:t>
                      </a: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сертификаты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Let's Encrypt, acme-companion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39590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29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61130"/>
            <a:ext cx="10515600" cy="1325563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Контейнеризация и развёртывание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90553-7E98-44AD-884D-C1893CF3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486693"/>
            <a:ext cx="11410949" cy="423386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 сервиса в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compose.yml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currency-app —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приложение</a:t>
            </a:r>
          </a:p>
          <a:p>
            <a:pPr algn="l"/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-proxy —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обратный прокси</a:t>
            </a:r>
          </a:p>
          <a:p>
            <a:pPr algn="l"/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nginx-letsencrypt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автоматические сертификаты</a:t>
            </a:r>
          </a:p>
          <a:p>
            <a:pPr algn="l"/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Развёртывание: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VPS (Ubuntu 22.04)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6C7424-0F2A-4FDD-86C0-FA4958EC5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42" y="4837210"/>
            <a:ext cx="11034716" cy="70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9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61130"/>
            <a:ext cx="10515600" cy="1325563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90553-7E98-44AD-884D-C1893CF3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2176859"/>
            <a:ext cx="4762499" cy="2504282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доступно по адресу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https://stepanna.bizml.ru</a:t>
            </a:r>
          </a:p>
          <a:p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Обновление каждые 30 секунд через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</a:p>
          <a:p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защищено сертификатом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Encrypt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AB204D-54C2-4971-8472-BC546816B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092880"/>
            <a:ext cx="6986618" cy="467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05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61130"/>
            <a:ext cx="10515600" cy="1325563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90553-7E98-44AD-884D-C1893CF3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38" y="2228850"/>
            <a:ext cx="10296524" cy="3276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достигнута: приложение разработано и развёрнуто</a:t>
            </a: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 работает в полностью автоматическом режиме</a:t>
            </a: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может использоваться как шаблон для других проектов</a:t>
            </a:r>
            <a:endParaRPr 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ru-RU" sz="20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60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1512-D5F5-4CD9-B6B7-59D221B8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0"/>
            <a:ext cx="9525000" cy="762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литературы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90553-7E98-44AD-884D-C1893CF3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12192000" cy="6096000"/>
          </a:xfrm>
        </p:spPr>
        <p:txBody>
          <a:bodyPr>
            <a:normAutofit fontScale="47500" lnSpcReduction="20000"/>
          </a:bodyPr>
          <a:lstStyle/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Введение в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Let's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Encrypt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: бесплатные SSL-сертификаты. — Текст : электронный //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arenda-server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2"/>
              </a:rPr>
              <a:t>https://arenda-server.cloud/blog/vvedenie-v-let-s-encrypt-besplatnye-ssl-sertifikaty/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Дюгуров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, Д. В. Контейнеризация. Ч. 1 : Введение в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Docker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: учеб.-метод. пособие / Д. В.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Дюгуров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. — Ижевск : Удмуртский ун-т, 2023. — 47 с. — Текст : электронный.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Контейнеризатор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приложений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docker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— установка, настройка, основы управления приложениями в средах с поддержкой контейнеризации . — Текст : электронный // Лань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3"/>
              </a:rPr>
              <a:t>https://e.lanbook.com/book/460064?category=931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Микросервисная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архитектура как современный подход к разработке программного обеспечения. — Текст : электронный // cyberleninka.ru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4"/>
              </a:rPr>
              <a:t>https://cyberleninka.ru/article/n/mikroservisnaya-arhitektura-kak-sovremennyy-podhod-k-razrabotke-programmnogo-obespecheniya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Настройка и администрирование сервисного программного обеспечения: учебное пособие. — Текст : электронный // Лань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5"/>
              </a:rPr>
              <a:t>https://e.lanbook.com/book/382442?category=1537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Официальные курсы валют на заданную дату, устанавливаемые ежедневно. — Текст : электронный // Банк России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6"/>
              </a:rPr>
              <a:t>https://www.cbr.ru/currency_base/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acme-companion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. — Текст : электронный // github.com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7"/>
              </a:rPr>
              <a:t>https://github.com/nginx-proxy/acme-companion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Docker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. — Текст : электронный //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skillfactory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8"/>
              </a:rPr>
              <a:t>https://blog.skillfactory.ru/glossary/docker/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Docker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Compose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. — Текст : электронный //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dockerdocs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9"/>
              </a:rPr>
              <a:t>https://docs.docker.com/compose/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Documentation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. — Текст : электронный //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Let's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Encrypt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10"/>
              </a:rPr>
              <a:t>https://letsencrypt.org/docs/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Nginx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.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Reverse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Proxy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. — Текст : электронный //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sysadminium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11"/>
              </a:rPr>
              <a:t>https://blog.sysadminium.ru/docs/web/nginx-reverse-proxy/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WebSocket.org. — Текст : электронный //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websocket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12"/>
              </a:rPr>
              <a:t>https://websocket.org/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 Введение в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Let's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Encrypt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: бесплатные SSL-сертификаты. — Текст : электронный // </a:t>
            </a:r>
            <a:r>
              <a:rPr lang="ru-RU" sz="25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arenda-server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: [сайт]. — URL: </a:t>
            </a:r>
            <a:r>
              <a:rPr lang="ru-RU" sz="25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2"/>
              </a:rPr>
              <a:t>https://arenda-server.cloud/blog/vvedenie-v-let-s-encrypt-besplatnye-ssl-sertifikaty/</a:t>
            </a:r>
            <a:r>
              <a:rPr lang="ru-RU" sz="25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(дата обращения: 08.06.2026).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endParaRPr lang="ru-RU" sz="18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37FCA51-D5D8-426C-A0B7-30A5FDBE27D9}"/>
              </a:ext>
            </a:extLst>
          </p:cNvPr>
          <p:cNvSpPr txBox="1">
            <a:spLocks/>
          </p:cNvSpPr>
          <p:nvPr/>
        </p:nvSpPr>
        <p:spPr>
          <a:xfrm>
            <a:off x="11620500" y="6472237"/>
            <a:ext cx="571500" cy="400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433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850</Words>
  <Application>Microsoft Office PowerPoint</Application>
  <PresentationFormat>Широкоэкранный</PresentationFormat>
  <Paragraphs>80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«РОССИЙСКИЙ ГОСУДАРСТВЕННЫЙ ПЕДАГОГИЧЕСКИЙ УНИВЕРСИТЕТ им. А. И. ГЕРЦЕНА»    Институт информационных технологий и технологического образования кафедра информационных технологий и электронного обучения Основная профессиональная образовательная программа Направление подготовки 09.03.01 Информатика и вычислительная техника Направленность (профиль) «Технологии разработки программного обеспечения и обработки больших данных» форма обучения – очная   Курсовая работа    по дисциплине «Прикладные информационные технологии» Разработка и контейнеризация веб-приложения для отслеживания курсов валют в реальном времени с использованием Docker и автоматизация выпуска сертификатов Let's Encrypt   Обучающейся 3 курса Степанова Анна Андреевна</vt:lpstr>
      <vt:lpstr>Актуальность</vt:lpstr>
      <vt:lpstr>Цель и задачи</vt:lpstr>
      <vt:lpstr>Архитектура приложения</vt:lpstr>
      <vt:lpstr>WebSocket и паттерн «Наблюдатель»</vt:lpstr>
      <vt:lpstr>Стек технологий</vt:lpstr>
      <vt:lpstr>Контейнеризация и развёртывание</vt:lpstr>
      <vt:lpstr>Результаты работы</vt:lpstr>
      <vt:lpstr>Заключение</vt:lpstr>
      <vt:lpstr>Список литературы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«РОССИЙСКИЙ ГОСУДАРСТВЕННЫЙ ПЕДАГОГИЧЕСКИЙ УНИВЕРСИТЕТ им. А. И. ГЕРЦЕНА»    Институт информационных технологий и технологического образования кафедра информационных технологий и электронного обучения Основная профессиональная образовательная программа Направление подготовки 09.03.01 Информатика и вычислительная техника Направленность (профиль) «Технологии разработки программного обеспечения и обработки больших данных» форма обучения – очная   Курсовая работа    по дисциплине «Прикладные информационные технологии» Разработка и контейнеризация веб-приложения для отслеживания курсов валют в реальном времени с использованием Docker и автоматизация выпуска сертификатов Let's Encrypt   Обучающейся 3 курса Степанова Анна Андреевна</dc:title>
  <dc:creator>Анна Степанова</dc:creator>
  <cp:lastModifiedBy>Анна Степанова</cp:lastModifiedBy>
  <cp:revision>1</cp:revision>
  <dcterms:created xsi:type="dcterms:W3CDTF">2026-06-10T21:52:40Z</dcterms:created>
  <dcterms:modified xsi:type="dcterms:W3CDTF">2026-06-10T22:59:37Z</dcterms:modified>
</cp:coreProperties>
</file>